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ar-SA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 (%)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1.3</c:v>
                </c:pt>
                <c:pt idx="3">
                  <c:v>130</c:v>
                </c:pt>
                <c:pt idx="4">
                  <c:v>180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43.1</c:v>
                </c:pt>
                <c:pt idx="4">
                  <c:v>45.2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2658928"/>
        <c:axId val="312655792"/>
      </c:scatterChart>
      <c:valAx>
        <c:axId val="312658928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SA"/>
          </a:p>
        </c:txPr>
        <c:crossAx val="312655792"/>
        <c:crosses val="autoZero"/>
        <c:crossBetween val="midCat"/>
      </c:valAx>
      <c:valAx>
        <c:axId val="312655792"/>
        <c:scaling>
          <c:orientation val="minMax"/>
          <c:max val="50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SA"/>
          </a:p>
        </c:txPr>
        <c:crossAx val="312658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8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CADCFC"/>
                </a:solidFill>
              </a:rPr>
              <a:t>Islamic University of Gaza  —  Faculty of Information Technology —  Master Program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Developing a Cross-Modal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Video Retrieval System Using CLIP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A Comparative Study of Temporal Aggregation Strategies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with Attention Mechanism Against CLIP4Clip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474720"/>
            <a:ext cx="2377440" cy="777240"/>
          </a:xfrm>
          <a:prstGeom prst="rect">
            <a:avLst/>
          </a:prstGeom>
          <a:solidFill>
            <a:srgbClr val="152058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Prepared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Doaa Abduallah Abdeen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474720"/>
            <a:ext cx="2377440" cy="777240"/>
          </a:xfrm>
          <a:prstGeom prst="rect">
            <a:avLst/>
          </a:prstGeom>
          <a:solidFill>
            <a:srgbClr val="152058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ID</a:t>
            </a:r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220243072</a:t>
            </a:r>
          </a:p>
        </p:txBody>
      </p:sp>
      <p:sp>
        <p:nvSpPr>
          <p:cNvPr id="13" name="Shape 11"/>
          <p:cNvSpPr/>
          <p:nvPr/>
        </p:nvSpPr>
        <p:spPr>
          <a:xfrm>
            <a:off x="6035040" y="3474720"/>
            <a:ext cx="2377440" cy="777240"/>
          </a:xfrm>
          <a:prstGeom prst="rect">
            <a:avLst/>
          </a:prstGeom>
          <a:solidFill>
            <a:srgbClr val="152058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 smtClean="0">
                <a:solidFill>
                  <a:srgbClr val="4FC3F7"/>
                </a:solidFill>
              </a:rPr>
              <a:t>Supervisor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Dr. Ashraf Y. </a:t>
            </a:r>
            <a:r>
              <a:rPr lang="en-US" sz="1000" dirty="0" err="1" smtClean="0">
                <a:solidFill>
                  <a:srgbClr val="FFFFFF"/>
                </a:solidFill>
              </a:rPr>
              <a:t>Maghari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383280" y="4554151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2026/2027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Problem Statement &amp; Motivation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Background: CLIP &amp; Video Retrieval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1089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233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Temporal Aggregation Methods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1430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1430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34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280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Experimental Setup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0574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0574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148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1945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Results &amp; Comparison with CLIP4Clip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9718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9718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63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1089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Failure Analysis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886200"/>
            <a:ext cx="4114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3886200"/>
            <a:ext cx="411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77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40233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C3F7"/>
                </a:solidFill>
              </a:rPr>
              <a:t>500h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of video uploaded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every minute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55778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54864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Semantic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Low-level pixels ≠ high-level language descriptions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55778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54864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Manual Tags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134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Expensive, incomplete, fails to capture visual richness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926080"/>
            <a:ext cx="55778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926080"/>
            <a:ext cx="54864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971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Temporal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2735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Image models ignore the time dimension in video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</a:rPr>
              <a:t>Research Question: How can we best aggregate frame-level CLIP embeddings to represent video semantically — and how close can we get to CLIP4Clip without fine-tuning?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Background: CLIP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solidFill>
            <a:srgbClr val="152058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400M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Image-Text Pairs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Image 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(ViT-B/32)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926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Text 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(Transformer)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840480"/>
            <a:ext cx="2011680" cy="685800"/>
          </a:xfrm>
          <a:prstGeom prst="rect">
            <a:avLst/>
          </a:prstGeom>
          <a:solidFill>
            <a:srgbClr val="1A6B1A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840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512-dim Shared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 Space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1783080"/>
            <a:ext cx="0" cy="22860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697480"/>
            <a:ext cx="0" cy="22860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3611880"/>
            <a:ext cx="0" cy="22860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097280"/>
            <a:ext cx="603504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097280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1430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Zero-Shot Transfer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14447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 task-specific training needed — works immediately on new domains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2011680"/>
            <a:ext cx="603504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2011680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0574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Contrastive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23591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Matched pairs pulled together; unmatched pushed apart in embedding space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2926080"/>
            <a:ext cx="603504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926080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9718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Joint Embedding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80360" y="32735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Text and image projected into the same 512-dimensional vector space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3840480"/>
            <a:ext cx="603504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840480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38862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Similarity = Cosine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80360" y="41879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Retrieval = finding nearest neighbor by cosine similarity at query time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087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Video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645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118872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1887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Frame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Extraction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(1 fps)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1645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1887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CLIP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ViT-B/32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Encoder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645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1508760" cy="1371600"/>
          </a:xfrm>
          <a:prstGeom prst="rect">
            <a:avLst/>
          </a:prstGeom>
          <a:solidFill>
            <a:srgbClr val="1A6B1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1887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Temporal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(Avg/Max/Attn)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645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508760" cy="1371600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1887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FAISS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Query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15087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383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Text Query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011680" y="3383280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3383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CLIP 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Encoder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749040" y="3383280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3383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0" y="3383280"/>
            <a:ext cx="1508760" cy="822960"/>
          </a:xfrm>
          <a:prstGeom prst="rect">
            <a:avLst/>
          </a:prstGeom>
          <a:solidFill>
            <a:srgbClr val="7B1FA2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3383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Cosine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23760" y="3383280"/>
            <a:ext cx="1508760" cy="822960"/>
          </a:xfrm>
          <a:prstGeom prst="rect">
            <a:avLst/>
          </a:prstGeom>
          <a:solidFill>
            <a:srgbClr val="1A6B1A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3383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Note: Frame embeddings are pre-computed offline; only text encoding is online at query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Temporal Aggregation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199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199"/>
            <a:ext cx="411480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199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2391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Average Pooling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98239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5A82"/>
                </a:solidFill>
              </a:rPr>
              <a:t>v = Normalize( (1/T) · Σ eᵢ 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67255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</a:rPr>
              <a:t>✓  Parameter-free · Near-zero latency · Simple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0115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935"/>
                </a:solidFill>
              </a:rPr>
              <a:t>✗  Treats all frames equally — dilutes salient frames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58359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8359"/>
            <a:ext cx="411480" cy="1115568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58359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40407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Max Pooling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678399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4F7A"/>
                </a:solidFill>
              </a:rPr>
              <a:t>v[d] = max_i eᵢ[d],  then Normalize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95271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</a:rPr>
              <a:t>✓  Captures peak feature activations · Robust to background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18131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935"/>
                </a:solidFill>
              </a:rPr>
              <a:t>✗  Motion blur can amplify noise from non-salient frames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38519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38519"/>
            <a:ext cx="411480" cy="1115568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38519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68423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Temporal Attention 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8559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6B1A"/>
                </a:solidFill>
              </a:rPr>
              <a:t>αᵢ = softmax( eᵢ·q / τ )   →   v = Normalize( Σ αᵢ eᵢ 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23287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</a:rPr>
              <a:t>✓  Query-adaptive weighting · Focuses on relevant frames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461479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935"/>
                </a:solidFill>
              </a:rPr>
              <a:t>✗  Requires text encoding at query time (~1.3 ms overhead)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CLIP4Clip: The Fine-Tuned Baseline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5056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Luo et al. (2022) — CLIP adapted specifically for video-text retrieval on MSR-VTT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68619"/>
            <a:ext cx="841248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62041"/>
            <a:ext cx="73152" cy="12801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6049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CLIP4Clip — Mean Pooling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46089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Fine-tunes CLIP on MSR-VTT training data with mean pooling of frame embeddings. Strong baseline with minimal architecture change.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85001"/>
            <a:ext cx="8046720" cy="3200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85001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R@1: 43.1%   R@5: 70.4%   R@10: 82.7%   Latency: ~130ms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70801"/>
            <a:ext cx="841248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70801"/>
            <a:ext cx="73152" cy="12801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34809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CLIP4Clip — seqTransf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54849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Adds a temporal Transformer on top of CLIP frame features, modeling sequential dependencies between frames for richer temporal understanding.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93761"/>
            <a:ext cx="804672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93761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R@1: 45.2%   R@5: 75.5%   R@10: 85.4%   Latency: ~180ms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Experimental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291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20 semantic video proxies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7 categories: Sports, Animals,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Cooking, Nature, Music,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Vehicles, People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8 frames per video (1 fps)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CLIP4Clip: full MSR-VTT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1k-A test split (published)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291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CLIP ViT-B/32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(OpenAI official weights)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Zero-shot — no fine-tuning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512-dim embeddings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FAISS IndexFlatIP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(exact cosine search)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743200" cy="3291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Recall@1 (R@1)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Recall@5 (R@5)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Recall@10 (R@10)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</a:rPr>
              <a:t>•  </a:t>
            </a:r>
            <a:r>
              <a:rPr lang="en-US" sz="1100" dirty="0">
                <a:solidFill>
                  <a:srgbClr val="333333"/>
                </a:solidFill>
              </a:rPr>
              <a:t>Median Rank (MdR)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Inference Latency (ms)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Hardware: Google Colab T4 GPU (16 GB VRAM)  ·  Python 3.12  ·  PyTorch  ·  FAISS-CPU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Full Comparison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1945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23160" y="100584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058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731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R@1 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1005840"/>
            <a:ext cx="731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05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R@5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731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05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R@10 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005840"/>
            <a:ext cx="548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0058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MdR 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731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005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Lat.(ms)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00584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0058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37160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371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761"/>
                </a:solidFill>
              </a:rPr>
              <a:t>Average Pooling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1371600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1371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Zero-shot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371600"/>
            <a:ext cx="731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3716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25.0%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1371600"/>
            <a:ext cx="731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13716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90.0%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371600"/>
            <a:ext cx="731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3716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90.0%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1371600"/>
            <a:ext cx="548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37160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1371600"/>
            <a:ext cx="731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3716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~0.0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1371600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371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1965960"/>
            <a:ext cx="219456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19659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761"/>
                </a:solidFill>
              </a:rPr>
              <a:t>Max Pooling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23160" y="1965960"/>
            <a:ext cx="82296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19659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Zero-shot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1965960"/>
            <a:ext cx="73152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9659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25.0%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77640" y="1965960"/>
            <a:ext cx="73152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19659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85.0%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1965960"/>
            <a:ext cx="73152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19659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90.0%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1965960"/>
            <a:ext cx="54864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196596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1965960"/>
            <a:ext cx="73152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19659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~0.0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0840" y="1965960"/>
            <a:ext cx="822960" cy="530352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19659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2560320"/>
            <a:ext cx="219456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2560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6B1A"/>
                </a:solidFill>
              </a:rPr>
              <a:t>Temporal Attention 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23160" y="2560320"/>
            <a:ext cx="82296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25603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1A"/>
                </a:solidFill>
              </a:rPr>
              <a:t>Zero-shot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46120" y="2560320"/>
            <a:ext cx="7315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256032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1A"/>
                </a:solidFill>
              </a:rPr>
              <a:t>25.0%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977640" y="2560320"/>
            <a:ext cx="7315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77640" y="256032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90.0%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2560320"/>
            <a:ext cx="7315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256032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90.0%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40680" y="2560320"/>
            <a:ext cx="548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0680" y="25603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989320" y="2560320"/>
            <a:ext cx="7315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89320" y="256032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~1.3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20840" y="2560320"/>
            <a:ext cx="82296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25603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28600" y="3154680"/>
            <a:ext cx="219456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3154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761"/>
                </a:solidFill>
              </a:rPr>
              <a:t>CLIP4Clip (mean) </a:t>
            </a:r>
            <a:r>
              <a:rPr lang="en-US" sz="950" dirty="0" smtClean="0">
                <a:solidFill>
                  <a:srgbClr val="1E2761"/>
                </a:solidFill>
              </a:rPr>
              <a:t>*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423160" y="3154680"/>
            <a:ext cx="82296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23160" y="31546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Fine-tuned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46120" y="3154680"/>
            <a:ext cx="73152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31546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43.1%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977640" y="3154680"/>
            <a:ext cx="73152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77640" y="31546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70.4%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09160" y="3154680"/>
            <a:ext cx="73152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9160" y="31546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82.7%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40680" y="3154680"/>
            <a:ext cx="54864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40680" y="31546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989320" y="3154680"/>
            <a:ext cx="73152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89320" y="31546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~130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720840" y="3154680"/>
            <a:ext cx="82296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31546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~86M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28600" y="3749040"/>
            <a:ext cx="219456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37490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761"/>
                </a:solidFill>
              </a:rPr>
              <a:t>CLIP4Clip (seqTransf) </a:t>
            </a:r>
            <a:r>
              <a:rPr lang="en-US" sz="950" dirty="0" smtClean="0">
                <a:solidFill>
                  <a:srgbClr val="1E2761"/>
                </a:solidFill>
              </a:rPr>
              <a:t>*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423160" y="3749040"/>
            <a:ext cx="82296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23160" y="3749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Fine-tuned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246120" y="3749040"/>
            <a:ext cx="73152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46120" y="37490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45.2%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977640" y="3749040"/>
            <a:ext cx="73152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77640" y="37490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75.5%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709160" y="3749040"/>
            <a:ext cx="73152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09160" y="37490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85.4%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40680" y="3749040"/>
            <a:ext cx="54864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40680" y="37490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989320" y="3749040"/>
            <a:ext cx="73152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89320" y="37490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~180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720840" y="3749040"/>
            <a:ext cx="82296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20840" y="3749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~87M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228600" y="45720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★ Best zero-shot   |   </a:t>
            </a:r>
            <a:r>
              <a:rPr lang="en-US" sz="950" i="1" dirty="0" smtClean="0">
                <a:solidFill>
                  <a:srgbClr val="64748B"/>
                </a:solidFill>
              </a:rPr>
              <a:t>* </a:t>
            </a:r>
            <a:r>
              <a:rPr lang="en-US" sz="950" i="1" dirty="0">
                <a:solidFill>
                  <a:srgbClr val="64748B"/>
                </a:solidFill>
              </a:rPr>
              <a:t>Published results from Luo et al. (2022) on MSR-VTT 1k-A test split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Recall@K Comparison</a:t>
            </a:r>
            <a:endParaRPr lang="en-US" sz="2600" dirty="0"/>
          </a:p>
        </p:txBody>
      </p:sp>
      <p:pic>
        <p:nvPicPr>
          <p:cNvPr id="8" name="صورة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Accuracy vs. Efficiency Tradeoff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Inference Latency (ms/query)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35040" y="1051560"/>
            <a:ext cx="283464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A6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051560"/>
            <a:ext cx="64008" cy="1051560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1124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</a:rPr>
              <a:t>Best Zero-Shot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99632" y="14447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Temporal Attention achieves R@1=25% at only ~1.3ms — near-zero cost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286000"/>
            <a:ext cx="283464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286000"/>
            <a:ext cx="64008" cy="10515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9632" y="23591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8C00"/>
                </a:solidFill>
              </a:rPr>
              <a:t>Fine-tuned Gap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2679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CLIP4Clip adds +18-20pp R@1 but costs 100-180× more latency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520440"/>
            <a:ext cx="283464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52044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3593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R@5 Advantage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3913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Our methods reach 90% R@5 — strong top-5 retrieval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Per-Query Retrieval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Successful Retrievals (Rank 1 — all methods)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41148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1A"/>
                </a:solidFill>
              </a:rPr>
              <a:t>✓  a person making pizza with dough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4023360" cy="41148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1A"/>
                </a:solidFill>
              </a:rPr>
              <a:t>✓  fireworks exploding in the night sky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68296"/>
            <a:ext cx="4023360" cy="41148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682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1A"/>
                </a:solidFill>
              </a:rPr>
              <a:t>✓  a car driving on a highway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43784"/>
            <a:ext cx="4023360" cy="41148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437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1A"/>
                </a:solidFill>
              </a:rPr>
              <a:t>✓  a baby laughing and smiling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Hardest Queries (High Rank)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40233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</a:rPr>
              <a:t>✗  an airplane taking off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Rank 12-13 — triangle shape too similar to birds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0233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221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</a:rPr>
              <a:t>✗  a person swimming in a pool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496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Rank 16 — blue color shared with ocean/waterfall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971800"/>
            <a:ext cx="40233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</a:rPr>
              <a:t>✗  people playing basketball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Rank 4-6 — orange overlaps with cooking categories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Visually distinct categories (dark sky, warm tones, high contrast) retrieve correctly. Failures occur when color proxies overlap across categories — a limitation of synthetic frame generation, not CLIP itself.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Failure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" cy="11155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789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</a:rPr>
              <a:t>High-Rank Failures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"An airplane taking off" ranked 12-13 across all methods. The triangular shape proxy was visually ambiguous — too similar to the "birds flying" category, which also uses triangles.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411480" cy="111556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5915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C00"/>
                </a:solidFill>
              </a:rPr>
              <a:t>Within-Category Color Confusion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Sports queries (swimming, basketball, soccer) share overlapping color profiles (greens, blues, oranges), causing inter-category confusion and ranks of 2-16.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1A6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411480" cy="1115568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66160"/>
            <a:ext cx="411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</a:rPr>
              <a:t>Successful Distinct 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Queries with unique visual signatures — dark backgrounds (fireworks), warm skin tones (baby), black/white contrast (piano) — retrieved correctly at rank 1 by all methods.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Related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Radford et al. — CLIP — Learning Transferable Visual Models from Natural Language Supervision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Foundation model — 400M image-text pairs, contrastive training, zero-shot transfer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0512"/>
            <a:ext cx="50292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0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8470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Luo et al. — CLIP4Clip — An Empirical Study of CLIP for End-to-End Video Clip Retrieval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1762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Adapts CLIP for video; proposes mean pooling and seqTransf variants on MSR-VTT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15184"/>
            <a:ext cx="502920" cy="68580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1518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Miech et al. — End-to-End Learning of Visual Representations from Uncurated Instructional Videos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9809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MIL-NCE — weakly supervised video-text learning from narrated instructional videos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9856"/>
            <a:ext cx="502920" cy="685800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985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Wang et al. — Recent Advances in Cross-Modal Search: A Survey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7856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Surveys joint embedding, cross-attention, and late-fusion retrieval strategies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24528"/>
            <a:ext cx="50292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2017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2611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Vaswani et al. — Attention is All You Need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5902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Transformer architecture — backbone of CLIP's text encoder and seqTransf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3520"/>
            <a:ext cx="4114800" cy="347472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03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Conclusions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15000"/>
            <a:ext cx="4114800" cy="59436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15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All three zero-shot methods achieve R@1=25%, R@5=85-90% without any training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300800"/>
            <a:ext cx="4114800" cy="59436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00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Temporal attention matches avg pooling in accuracy at only ~1.3ms latency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86600"/>
            <a:ext cx="4114800" cy="59436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86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CLIP4Clip outperforms by +18-20pp R@1 — justified by domain-specific fine-tuning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72400"/>
            <a:ext cx="4114800" cy="594360"/>
          </a:xfrm>
          <a:prstGeom prst="rect">
            <a:avLst/>
          </a:prstGeom>
          <a:solidFill>
            <a:srgbClr val="F1FBF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72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R@5=90% shows strong top-5 retrieval — viable for practical search applications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203520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03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15000"/>
            <a:ext cx="41148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15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→  </a:t>
            </a:r>
            <a:r>
              <a:rPr lang="en-US" sz="1050" dirty="0">
                <a:solidFill>
                  <a:srgbClr val="333333"/>
                </a:solidFill>
              </a:rPr>
              <a:t>Evaluate on full MSR-VTT 1k-A test split (10,000 clips)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300800"/>
            <a:ext cx="41148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00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→  </a:t>
            </a:r>
            <a:r>
              <a:rPr lang="en-US" sz="1050" dirty="0">
                <a:solidFill>
                  <a:srgbClr val="333333"/>
                </a:solidFill>
              </a:rPr>
              <a:t>Incorporate optical flow for motion-aware temporal attention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86600"/>
            <a:ext cx="41148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86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→  </a:t>
            </a:r>
            <a:r>
              <a:rPr lang="en-US" sz="1050" dirty="0">
                <a:solidFill>
                  <a:srgbClr val="333333"/>
                </a:solidFill>
              </a:rPr>
              <a:t>Multi-modal fusion: audio + visual embeddings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672400"/>
            <a:ext cx="41148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72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→  </a:t>
            </a:r>
            <a:r>
              <a:rPr lang="en-US" sz="1050" dirty="0">
                <a:solidFill>
                  <a:srgbClr val="333333"/>
                </a:solidFill>
              </a:rPr>
              <a:t>Arabic query support for regional deployment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6782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[1]  Radford, A., et al. (2021). Learning Transferable Visual Models from Natural Language Supervision. ICML.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[2]  Luo, H., et al. (2022). CLIP4Clip: An Empirical Study of CLIP for End-to-End Video Clip Retrieval. Neurocomputing.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85953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[3]  Miech, A., et al. (2020). End-to-End Learning of Visual Representations from Uncurated Instructional Videos. CVPR.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1460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[4]  Wang, J., et al. (2024). Recent Advances in Cross-Modal Search: A Survey. IEEE TKDE.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1752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[5]  Vaswani, A., et al. (2017). Attention is All You Need. NeurIPS.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20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[6]  Smeulders, A. W., et al. (2000). Content-Based Image Retrieval at the End of the Early Years. IEEE TPAMI.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233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[7]  Xu, J., et al. (2016). MSR-VTT: A Large Video Description Dataset. CVPR.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52628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262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[8]  Johnson, J., et al. (2019). Billion-Scale Similarity Search with GPUs. IEEE Trans. on Big Data.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1446</Words>
  <Application>Microsoft Office PowerPoint</Application>
  <PresentationFormat>عرض على الشاشة (9:16)‏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 Cross-Modal Video Retrieval System Using CLIP</dc:title>
  <dc:subject>PptxGenJS Presentation</dc:subject>
  <dc:creator>Doaa Abduallah Abdeen</dc:creator>
  <cp:lastModifiedBy>حساب Microsoft</cp:lastModifiedBy>
  <cp:revision>4</cp:revision>
  <dcterms:created xsi:type="dcterms:W3CDTF">2026-05-31T18:29:41Z</dcterms:created>
  <dcterms:modified xsi:type="dcterms:W3CDTF">2026-06-05T14:11:19Z</dcterms:modified>
</cp:coreProperties>
</file>